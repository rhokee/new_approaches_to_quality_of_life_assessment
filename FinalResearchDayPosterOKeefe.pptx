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38404800" cy="38404800"/>
  <p:notesSz cx="6858000" cy="9144000"/>
  <p:defaultTextStyle>
    <a:defPPr>
      <a:defRPr lang="en-US"/>
    </a:defPPr>
    <a:lvl1pPr marL="0" algn="l" defTabSz="2194471" rtl="0" eaLnBrk="1" latinLnBrk="0" hangingPunct="1">
      <a:defRPr sz="8711" kern="1200">
        <a:solidFill>
          <a:schemeClr val="tx1"/>
        </a:solidFill>
        <a:latin typeface="+mn-lt"/>
        <a:ea typeface="+mn-ea"/>
        <a:cs typeface="+mn-cs"/>
      </a:defRPr>
    </a:lvl1pPr>
    <a:lvl2pPr marL="2194471" algn="l" defTabSz="2194471" rtl="0" eaLnBrk="1" latinLnBrk="0" hangingPunct="1">
      <a:defRPr sz="8711" kern="1200">
        <a:solidFill>
          <a:schemeClr val="tx1"/>
        </a:solidFill>
        <a:latin typeface="+mn-lt"/>
        <a:ea typeface="+mn-ea"/>
        <a:cs typeface="+mn-cs"/>
      </a:defRPr>
    </a:lvl2pPr>
    <a:lvl3pPr marL="4388943" algn="l" defTabSz="2194471" rtl="0" eaLnBrk="1" latinLnBrk="0" hangingPunct="1">
      <a:defRPr sz="8711" kern="1200">
        <a:solidFill>
          <a:schemeClr val="tx1"/>
        </a:solidFill>
        <a:latin typeface="+mn-lt"/>
        <a:ea typeface="+mn-ea"/>
        <a:cs typeface="+mn-cs"/>
      </a:defRPr>
    </a:lvl3pPr>
    <a:lvl4pPr marL="6583414" algn="l" defTabSz="2194471" rtl="0" eaLnBrk="1" latinLnBrk="0" hangingPunct="1">
      <a:defRPr sz="8711" kern="1200">
        <a:solidFill>
          <a:schemeClr val="tx1"/>
        </a:solidFill>
        <a:latin typeface="+mn-lt"/>
        <a:ea typeface="+mn-ea"/>
        <a:cs typeface="+mn-cs"/>
      </a:defRPr>
    </a:lvl4pPr>
    <a:lvl5pPr marL="8777886" algn="l" defTabSz="2194471" rtl="0" eaLnBrk="1" latinLnBrk="0" hangingPunct="1">
      <a:defRPr sz="8711" kern="1200">
        <a:solidFill>
          <a:schemeClr val="tx1"/>
        </a:solidFill>
        <a:latin typeface="+mn-lt"/>
        <a:ea typeface="+mn-ea"/>
        <a:cs typeface="+mn-cs"/>
      </a:defRPr>
    </a:lvl5pPr>
    <a:lvl6pPr marL="10972357" algn="l" defTabSz="2194471" rtl="0" eaLnBrk="1" latinLnBrk="0" hangingPunct="1">
      <a:defRPr sz="8711" kern="1200">
        <a:solidFill>
          <a:schemeClr val="tx1"/>
        </a:solidFill>
        <a:latin typeface="+mn-lt"/>
        <a:ea typeface="+mn-ea"/>
        <a:cs typeface="+mn-cs"/>
      </a:defRPr>
    </a:lvl6pPr>
    <a:lvl7pPr marL="13166828" algn="l" defTabSz="2194471" rtl="0" eaLnBrk="1" latinLnBrk="0" hangingPunct="1">
      <a:defRPr sz="8711" kern="1200">
        <a:solidFill>
          <a:schemeClr val="tx1"/>
        </a:solidFill>
        <a:latin typeface="+mn-lt"/>
        <a:ea typeface="+mn-ea"/>
        <a:cs typeface="+mn-cs"/>
      </a:defRPr>
    </a:lvl7pPr>
    <a:lvl8pPr marL="15361300" algn="l" defTabSz="2194471" rtl="0" eaLnBrk="1" latinLnBrk="0" hangingPunct="1">
      <a:defRPr sz="8711" kern="1200">
        <a:solidFill>
          <a:schemeClr val="tx1"/>
        </a:solidFill>
        <a:latin typeface="+mn-lt"/>
        <a:ea typeface="+mn-ea"/>
        <a:cs typeface="+mn-cs"/>
      </a:defRPr>
    </a:lvl8pPr>
    <a:lvl9pPr marL="17555771" algn="l" defTabSz="2194471" rtl="0" eaLnBrk="1" latinLnBrk="0" hangingPunct="1">
      <a:defRPr sz="871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96" userDrawn="1">
          <p15:clr>
            <a:srgbClr val="A4A3A4"/>
          </p15:clr>
        </p15:guide>
        <p15:guide id="2" pos="120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73D"/>
    <a:srgbClr val="404040"/>
    <a:srgbClr val="005F9F"/>
    <a:srgbClr val="5DA271"/>
    <a:srgbClr val="8D5A97"/>
    <a:srgbClr val="55BFC3"/>
    <a:srgbClr val="C1E3DC"/>
    <a:srgbClr val="1E91D6"/>
    <a:srgbClr val="2589BD"/>
    <a:srgbClr val="FFD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51" autoAdjust="0"/>
    <p:restoredTop sz="94689" autoAdjust="0"/>
  </p:normalViewPr>
  <p:slideViewPr>
    <p:cSldViewPr snapToGrid="0" snapToObjects="1">
      <p:cViewPr>
        <p:scale>
          <a:sx n="33" d="100"/>
          <a:sy n="33" d="100"/>
        </p:scale>
        <p:origin x="206" y="-3634"/>
      </p:cViewPr>
      <p:guideLst>
        <p:guide orient="horz" pos="12096"/>
        <p:guide pos="12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11CC4D-C479-4E0B-9DC0-3BC8C135A577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85D2F0-008F-4570-8E56-A47B00831F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64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5D2F0-008F-4570-8E56-A47B00831F3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249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360" y="11930383"/>
            <a:ext cx="32644080" cy="8232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0720" y="21762720"/>
            <a:ext cx="26883360" cy="981456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6451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2903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935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5807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225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98711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1516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3161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2A47-00E3-444A-B880-77CA3AC1B6E7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667DA-616F-804C-9BAF-30652A61B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438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2A47-00E3-444A-B880-77CA3AC1B6E7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667DA-616F-804C-9BAF-30652A61B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78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715" y="24678643"/>
            <a:ext cx="32644080" cy="7627620"/>
          </a:xfrm>
        </p:spPr>
        <p:txBody>
          <a:bodyPr anchor="t"/>
          <a:lstStyle>
            <a:lvl1pPr algn="l">
              <a:defRPr sz="1434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33715" y="16277608"/>
            <a:ext cx="32644080" cy="8401048"/>
          </a:xfrm>
        </p:spPr>
        <p:txBody>
          <a:bodyPr anchor="b"/>
          <a:lstStyle>
            <a:lvl1pPr marL="0" indent="0">
              <a:buNone/>
              <a:defRPr sz="7227">
                <a:solidFill>
                  <a:schemeClr val="tx1">
                    <a:tint val="75000"/>
                  </a:schemeClr>
                </a:solidFill>
              </a:defRPr>
            </a:lvl1pPr>
            <a:lvl2pPr marL="1645197" indent="0">
              <a:buNone/>
              <a:defRPr sz="6528">
                <a:solidFill>
                  <a:schemeClr val="tx1">
                    <a:tint val="75000"/>
                  </a:schemeClr>
                </a:solidFill>
              </a:defRPr>
            </a:lvl2pPr>
            <a:lvl3pPr marL="3290393" indent="0">
              <a:buNone/>
              <a:defRPr sz="5716">
                <a:solidFill>
                  <a:schemeClr val="tx1">
                    <a:tint val="75000"/>
                  </a:schemeClr>
                </a:solidFill>
              </a:defRPr>
            </a:lvl3pPr>
            <a:lvl4pPr marL="4935589" indent="0">
              <a:buNone/>
              <a:defRPr sz="5016">
                <a:solidFill>
                  <a:schemeClr val="tx1">
                    <a:tint val="75000"/>
                  </a:schemeClr>
                </a:solidFill>
              </a:defRPr>
            </a:lvl4pPr>
            <a:lvl5pPr marL="6580786" indent="0">
              <a:buNone/>
              <a:defRPr sz="5016">
                <a:solidFill>
                  <a:schemeClr val="tx1">
                    <a:tint val="75000"/>
                  </a:schemeClr>
                </a:solidFill>
              </a:defRPr>
            </a:lvl5pPr>
            <a:lvl6pPr marL="8225982" indent="0">
              <a:buNone/>
              <a:defRPr sz="5016">
                <a:solidFill>
                  <a:schemeClr val="tx1">
                    <a:tint val="75000"/>
                  </a:schemeClr>
                </a:solidFill>
              </a:defRPr>
            </a:lvl6pPr>
            <a:lvl7pPr marL="9871179" indent="0">
              <a:buNone/>
              <a:defRPr sz="5016">
                <a:solidFill>
                  <a:schemeClr val="tx1">
                    <a:tint val="75000"/>
                  </a:schemeClr>
                </a:solidFill>
              </a:defRPr>
            </a:lvl7pPr>
            <a:lvl8pPr marL="11516374" indent="0">
              <a:buNone/>
              <a:defRPr sz="5016">
                <a:solidFill>
                  <a:schemeClr val="tx1">
                    <a:tint val="75000"/>
                  </a:schemeClr>
                </a:solidFill>
              </a:defRPr>
            </a:lvl8pPr>
            <a:lvl9pPr marL="13161571" indent="0">
              <a:buNone/>
              <a:defRPr sz="501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2A47-00E3-444A-B880-77CA3AC1B6E7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667DA-616F-804C-9BAF-30652A61B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954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4206" y="21504924"/>
            <a:ext cx="61894399" cy="60834268"/>
          </a:xfrm>
        </p:spPr>
        <p:txBody>
          <a:bodyPr/>
          <a:lstStyle>
            <a:lvl1pPr>
              <a:defRPr sz="10026"/>
            </a:lvl1pPr>
            <a:lvl2pPr>
              <a:defRPr sz="8626"/>
            </a:lvl2pPr>
            <a:lvl3pPr>
              <a:defRPr sz="7227"/>
            </a:lvl3pPr>
            <a:lvl4pPr>
              <a:defRPr sz="6528"/>
            </a:lvl4pPr>
            <a:lvl5pPr>
              <a:defRPr sz="6528"/>
            </a:lvl5pPr>
            <a:lvl6pPr>
              <a:defRPr sz="6528"/>
            </a:lvl6pPr>
            <a:lvl7pPr>
              <a:defRPr sz="6528"/>
            </a:lvl7pPr>
            <a:lvl8pPr>
              <a:defRPr sz="6528"/>
            </a:lvl8pPr>
            <a:lvl9pPr>
              <a:defRPr sz="652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48689" y="21504924"/>
            <a:ext cx="61894405" cy="60834268"/>
          </a:xfrm>
        </p:spPr>
        <p:txBody>
          <a:bodyPr/>
          <a:lstStyle>
            <a:lvl1pPr>
              <a:defRPr sz="10026"/>
            </a:lvl1pPr>
            <a:lvl2pPr>
              <a:defRPr sz="8626"/>
            </a:lvl2pPr>
            <a:lvl3pPr>
              <a:defRPr sz="7227"/>
            </a:lvl3pPr>
            <a:lvl4pPr>
              <a:defRPr sz="6528"/>
            </a:lvl4pPr>
            <a:lvl5pPr>
              <a:defRPr sz="6528"/>
            </a:lvl5pPr>
            <a:lvl6pPr>
              <a:defRPr sz="6528"/>
            </a:lvl6pPr>
            <a:lvl7pPr>
              <a:defRPr sz="6528"/>
            </a:lvl7pPr>
            <a:lvl8pPr>
              <a:defRPr sz="6528"/>
            </a:lvl8pPr>
            <a:lvl9pPr>
              <a:defRPr sz="652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2A47-00E3-444A-B880-77CA3AC1B6E7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667DA-616F-804C-9BAF-30652A61B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467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0" y="1537973"/>
            <a:ext cx="34564320" cy="640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2" y="8596635"/>
            <a:ext cx="16968791" cy="3582668"/>
          </a:xfrm>
        </p:spPr>
        <p:txBody>
          <a:bodyPr anchor="b"/>
          <a:lstStyle>
            <a:lvl1pPr marL="0" indent="0">
              <a:buNone/>
              <a:defRPr sz="8626" b="1"/>
            </a:lvl1pPr>
            <a:lvl2pPr marL="1645197" indent="0">
              <a:buNone/>
              <a:defRPr sz="7227" b="1"/>
            </a:lvl2pPr>
            <a:lvl3pPr marL="3290393" indent="0">
              <a:buNone/>
              <a:defRPr sz="6528" b="1"/>
            </a:lvl3pPr>
            <a:lvl4pPr marL="4935589" indent="0">
              <a:buNone/>
              <a:defRPr sz="5716" b="1"/>
            </a:lvl4pPr>
            <a:lvl5pPr marL="6580786" indent="0">
              <a:buNone/>
              <a:defRPr sz="5716" b="1"/>
            </a:lvl5pPr>
            <a:lvl6pPr marL="8225982" indent="0">
              <a:buNone/>
              <a:defRPr sz="5716" b="1"/>
            </a:lvl6pPr>
            <a:lvl7pPr marL="9871179" indent="0">
              <a:buNone/>
              <a:defRPr sz="5716" b="1"/>
            </a:lvl7pPr>
            <a:lvl8pPr marL="11516374" indent="0">
              <a:buNone/>
              <a:defRPr sz="5716" b="1"/>
            </a:lvl8pPr>
            <a:lvl9pPr marL="13161571" indent="0">
              <a:buNone/>
              <a:defRPr sz="57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2" y="12179301"/>
            <a:ext cx="16968791" cy="22127213"/>
          </a:xfrm>
        </p:spPr>
        <p:txBody>
          <a:bodyPr/>
          <a:lstStyle>
            <a:lvl1pPr>
              <a:defRPr sz="8626"/>
            </a:lvl1pPr>
            <a:lvl2pPr>
              <a:defRPr sz="7227"/>
            </a:lvl2pPr>
            <a:lvl3pPr>
              <a:defRPr sz="6528"/>
            </a:lvl3pPr>
            <a:lvl4pPr>
              <a:defRPr sz="5716"/>
            </a:lvl4pPr>
            <a:lvl5pPr>
              <a:defRPr sz="5716"/>
            </a:lvl5pPr>
            <a:lvl6pPr>
              <a:defRPr sz="5716"/>
            </a:lvl6pPr>
            <a:lvl7pPr>
              <a:defRPr sz="5716"/>
            </a:lvl7pPr>
            <a:lvl8pPr>
              <a:defRPr sz="5716"/>
            </a:lvl8pPr>
            <a:lvl9pPr>
              <a:defRPr sz="571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509110" y="8596635"/>
            <a:ext cx="16975455" cy="3582668"/>
          </a:xfrm>
        </p:spPr>
        <p:txBody>
          <a:bodyPr anchor="b"/>
          <a:lstStyle>
            <a:lvl1pPr marL="0" indent="0">
              <a:buNone/>
              <a:defRPr sz="8626" b="1"/>
            </a:lvl1pPr>
            <a:lvl2pPr marL="1645197" indent="0">
              <a:buNone/>
              <a:defRPr sz="7227" b="1"/>
            </a:lvl2pPr>
            <a:lvl3pPr marL="3290393" indent="0">
              <a:buNone/>
              <a:defRPr sz="6528" b="1"/>
            </a:lvl3pPr>
            <a:lvl4pPr marL="4935589" indent="0">
              <a:buNone/>
              <a:defRPr sz="5716" b="1"/>
            </a:lvl4pPr>
            <a:lvl5pPr marL="6580786" indent="0">
              <a:buNone/>
              <a:defRPr sz="5716" b="1"/>
            </a:lvl5pPr>
            <a:lvl6pPr marL="8225982" indent="0">
              <a:buNone/>
              <a:defRPr sz="5716" b="1"/>
            </a:lvl6pPr>
            <a:lvl7pPr marL="9871179" indent="0">
              <a:buNone/>
              <a:defRPr sz="5716" b="1"/>
            </a:lvl7pPr>
            <a:lvl8pPr marL="11516374" indent="0">
              <a:buNone/>
              <a:defRPr sz="5716" b="1"/>
            </a:lvl8pPr>
            <a:lvl9pPr marL="13161571" indent="0">
              <a:buNone/>
              <a:defRPr sz="57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509110" y="12179301"/>
            <a:ext cx="16975455" cy="22127213"/>
          </a:xfrm>
        </p:spPr>
        <p:txBody>
          <a:bodyPr/>
          <a:lstStyle>
            <a:lvl1pPr>
              <a:defRPr sz="8626"/>
            </a:lvl1pPr>
            <a:lvl2pPr>
              <a:defRPr sz="7227"/>
            </a:lvl2pPr>
            <a:lvl3pPr>
              <a:defRPr sz="6528"/>
            </a:lvl3pPr>
            <a:lvl4pPr>
              <a:defRPr sz="5716"/>
            </a:lvl4pPr>
            <a:lvl5pPr>
              <a:defRPr sz="5716"/>
            </a:lvl5pPr>
            <a:lvl6pPr>
              <a:defRPr sz="5716"/>
            </a:lvl6pPr>
            <a:lvl7pPr>
              <a:defRPr sz="5716"/>
            </a:lvl7pPr>
            <a:lvl8pPr>
              <a:defRPr sz="5716"/>
            </a:lvl8pPr>
            <a:lvl9pPr>
              <a:defRPr sz="571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2A47-00E3-444A-B880-77CA3AC1B6E7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667DA-616F-804C-9BAF-30652A61B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82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2A47-00E3-444A-B880-77CA3AC1B6E7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667DA-616F-804C-9BAF-30652A61B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908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2A47-00E3-444A-B880-77CA3AC1B6E7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667DA-616F-804C-9BAF-30652A61B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303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50" y="1529080"/>
            <a:ext cx="12634915" cy="6507480"/>
          </a:xfrm>
        </p:spPr>
        <p:txBody>
          <a:bodyPr anchor="b"/>
          <a:lstStyle>
            <a:lvl1pPr algn="l">
              <a:defRPr sz="722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15210" y="1529084"/>
            <a:ext cx="21469350" cy="32777433"/>
          </a:xfrm>
        </p:spPr>
        <p:txBody>
          <a:bodyPr/>
          <a:lstStyle>
            <a:lvl1pPr>
              <a:defRPr sz="11550"/>
            </a:lvl1pPr>
            <a:lvl2pPr>
              <a:defRPr sz="10026"/>
            </a:lvl2pPr>
            <a:lvl3pPr>
              <a:defRPr sz="8626"/>
            </a:lvl3pPr>
            <a:lvl4pPr>
              <a:defRPr sz="7227"/>
            </a:lvl4pPr>
            <a:lvl5pPr>
              <a:defRPr sz="7227"/>
            </a:lvl5pPr>
            <a:lvl6pPr>
              <a:defRPr sz="7227"/>
            </a:lvl6pPr>
            <a:lvl7pPr>
              <a:defRPr sz="7227"/>
            </a:lvl7pPr>
            <a:lvl8pPr>
              <a:defRPr sz="7227"/>
            </a:lvl8pPr>
            <a:lvl9pPr>
              <a:defRPr sz="72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50" y="8036564"/>
            <a:ext cx="12634915" cy="26269953"/>
          </a:xfrm>
        </p:spPr>
        <p:txBody>
          <a:bodyPr/>
          <a:lstStyle>
            <a:lvl1pPr marL="0" indent="0">
              <a:buNone/>
              <a:defRPr sz="5016"/>
            </a:lvl1pPr>
            <a:lvl2pPr marL="1645197" indent="0">
              <a:buNone/>
              <a:defRPr sz="4317"/>
            </a:lvl2pPr>
            <a:lvl3pPr marL="3290393" indent="0">
              <a:buNone/>
              <a:defRPr sz="3617"/>
            </a:lvl3pPr>
            <a:lvl4pPr marL="4935589" indent="0">
              <a:buNone/>
              <a:defRPr sz="3267"/>
            </a:lvl4pPr>
            <a:lvl5pPr marL="6580786" indent="0">
              <a:buNone/>
              <a:defRPr sz="3267"/>
            </a:lvl5pPr>
            <a:lvl6pPr marL="8225982" indent="0">
              <a:buNone/>
              <a:defRPr sz="3267"/>
            </a:lvl6pPr>
            <a:lvl7pPr marL="9871179" indent="0">
              <a:buNone/>
              <a:defRPr sz="3267"/>
            </a:lvl7pPr>
            <a:lvl8pPr marL="11516374" indent="0">
              <a:buNone/>
              <a:defRPr sz="3267"/>
            </a:lvl8pPr>
            <a:lvl9pPr marL="13161571" indent="0">
              <a:buNone/>
              <a:defRPr sz="3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2A47-00E3-444A-B880-77CA3AC1B6E7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667DA-616F-804C-9BAF-30652A61B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448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7611" y="26883361"/>
            <a:ext cx="23042880" cy="3173733"/>
          </a:xfrm>
        </p:spPr>
        <p:txBody>
          <a:bodyPr anchor="b"/>
          <a:lstStyle>
            <a:lvl1pPr algn="l">
              <a:defRPr sz="722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527611" y="3431540"/>
            <a:ext cx="23042880" cy="23042880"/>
          </a:xfrm>
        </p:spPr>
        <p:txBody>
          <a:bodyPr/>
          <a:lstStyle>
            <a:lvl1pPr marL="0" indent="0">
              <a:buNone/>
              <a:defRPr sz="11550"/>
            </a:lvl1pPr>
            <a:lvl2pPr marL="1645197" indent="0">
              <a:buNone/>
              <a:defRPr sz="10026"/>
            </a:lvl2pPr>
            <a:lvl3pPr marL="3290393" indent="0">
              <a:buNone/>
              <a:defRPr sz="8626"/>
            </a:lvl3pPr>
            <a:lvl4pPr marL="4935589" indent="0">
              <a:buNone/>
              <a:defRPr sz="7227"/>
            </a:lvl4pPr>
            <a:lvl5pPr marL="6580786" indent="0">
              <a:buNone/>
              <a:defRPr sz="7227"/>
            </a:lvl5pPr>
            <a:lvl6pPr marL="8225982" indent="0">
              <a:buNone/>
              <a:defRPr sz="7227"/>
            </a:lvl6pPr>
            <a:lvl7pPr marL="9871179" indent="0">
              <a:buNone/>
              <a:defRPr sz="7227"/>
            </a:lvl7pPr>
            <a:lvl8pPr marL="11516374" indent="0">
              <a:buNone/>
              <a:defRPr sz="7227"/>
            </a:lvl8pPr>
            <a:lvl9pPr marL="13161571" indent="0">
              <a:buNone/>
              <a:defRPr sz="722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27611" y="30057106"/>
            <a:ext cx="23042880" cy="4507228"/>
          </a:xfrm>
        </p:spPr>
        <p:txBody>
          <a:bodyPr/>
          <a:lstStyle>
            <a:lvl1pPr marL="0" indent="0">
              <a:buNone/>
              <a:defRPr sz="5016"/>
            </a:lvl1pPr>
            <a:lvl2pPr marL="1645197" indent="0">
              <a:buNone/>
              <a:defRPr sz="4317"/>
            </a:lvl2pPr>
            <a:lvl3pPr marL="3290393" indent="0">
              <a:buNone/>
              <a:defRPr sz="3617"/>
            </a:lvl3pPr>
            <a:lvl4pPr marL="4935589" indent="0">
              <a:buNone/>
              <a:defRPr sz="3267"/>
            </a:lvl4pPr>
            <a:lvl5pPr marL="6580786" indent="0">
              <a:buNone/>
              <a:defRPr sz="3267"/>
            </a:lvl5pPr>
            <a:lvl6pPr marL="8225982" indent="0">
              <a:buNone/>
              <a:defRPr sz="3267"/>
            </a:lvl6pPr>
            <a:lvl7pPr marL="9871179" indent="0">
              <a:buNone/>
              <a:defRPr sz="3267"/>
            </a:lvl7pPr>
            <a:lvl8pPr marL="11516374" indent="0">
              <a:buNone/>
              <a:defRPr sz="3267"/>
            </a:lvl8pPr>
            <a:lvl9pPr marL="13161571" indent="0">
              <a:buNone/>
              <a:defRPr sz="3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2A47-00E3-444A-B880-77CA3AC1B6E7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667DA-616F-804C-9BAF-30652A61B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71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2A47-00E3-444A-B880-77CA3AC1B6E7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667DA-616F-804C-9BAF-30652A61B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288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239200" y="3689353"/>
            <a:ext cx="31103891" cy="786498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4204" y="3689353"/>
            <a:ext cx="92684915" cy="786498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A2A47-00E3-444A-B880-77CA3AC1B6E7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667DA-616F-804C-9BAF-30652A61B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156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1537973"/>
            <a:ext cx="34564320" cy="6400800"/>
          </a:xfrm>
          <a:prstGeom prst="rect">
            <a:avLst/>
          </a:prstGeom>
        </p:spPr>
        <p:txBody>
          <a:bodyPr vert="horz" lIns="282156" tIns="141078" rIns="282156" bIns="14107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8961124"/>
            <a:ext cx="34564320" cy="25345393"/>
          </a:xfrm>
          <a:prstGeom prst="rect">
            <a:avLst/>
          </a:prstGeom>
        </p:spPr>
        <p:txBody>
          <a:bodyPr vert="horz" lIns="282156" tIns="141078" rIns="282156" bIns="14107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20240" y="35595563"/>
            <a:ext cx="8961120" cy="2044700"/>
          </a:xfrm>
          <a:prstGeom prst="rect">
            <a:avLst/>
          </a:prstGeom>
        </p:spPr>
        <p:txBody>
          <a:bodyPr vert="horz" lIns="282156" tIns="141078" rIns="282156" bIns="141078" rtlCol="0" anchor="ctr"/>
          <a:lstStyle>
            <a:lvl1pPr algn="l">
              <a:defRPr sz="43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A2A47-00E3-444A-B880-77CA3AC1B6E7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121640" y="35595563"/>
            <a:ext cx="12161520" cy="2044700"/>
          </a:xfrm>
          <a:prstGeom prst="rect">
            <a:avLst/>
          </a:prstGeom>
        </p:spPr>
        <p:txBody>
          <a:bodyPr vert="horz" lIns="282156" tIns="141078" rIns="282156" bIns="141078" rtlCol="0" anchor="ctr"/>
          <a:lstStyle>
            <a:lvl1pPr algn="ctr">
              <a:defRPr sz="43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523440" y="35595563"/>
            <a:ext cx="8961120" cy="2044700"/>
          </a:xfrm>
          <a:prstGeom prst="rect">
            <a:avLst/>
          </a:prstGeom>
        </p:spPr>
        <p:txBody>
          <a:bodyPr vert="horz" lIns="282156" tIns="141078" rIns="282156" bIns="141078" rtlCol="0" anchor="ctr"/>
          <a:lstStyle>
            <a:lvl1pPr algn="r">
              <a:defRPr sz="43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667DA-616F-804C-9BAF-30652A61B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640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645197" rtl="0" eaLnBrk="1" latinLnBrk="0" hangingPunct="1">
        <a:spcBef>
          <a:spcPct val="0"/>
        </a:spcBef>
        <a:buNone/>
        <a:defRPr sz="15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33897" indent="-1233897" algn="l" defTabSz="1645197" rtl="0" eaLnBrk="1" latinLnBrk="0" hangingPunct="1">
        <a:spcBef>
          <a:spcPct val="20000"/>
        </a:spcBef>
        <a:buFont typeface="Arial"/>
        <a:buChar char="•"/>
        <a:defRPr sz="11550" kern="1200">
          <a:solidFill>
            <a:schemeClr val="tx1"/>
          </a:solidFill>
          <a:latin typeface="+mn-lt"/>
          <a:ea typeface="+mn-ea"/>
          <a:cs typeface="+mn-cs"/>
        </a:defRPr>
      </a:lvl1pPr>
      <a:lvl2pPr marL="2673445" indent="-1028249" algn="l" defTabSz="1645197" rtl="0" eaLnBrk="1" latinLnBrk="0" hangingPunct="1">
        <a:spcBef>
          <a:spcPct val="20000"/>
        </a:spcBef>
        <a:buFont typeface="Arial"/>
        <a:buChar char="–"/>
        <a:defRPr sz="10026" kern="1200">
          <a:solidFill>
            <a:schemeClr val="tx1"/>
          </a:solidFill>
          <a:latin typeface="+mn-lt"/>
          <a:ea typeface="+mn-ea"/>
          <a:cs typeface="+mn-cs"/>
        </a:defRPr>
      </a:lvl2pPr>
      <a:lvl3pPr marL="4112992" indent="-822598" algn="l" defTabSz="1645197" rtl="0" eaLnBrk="1" latinLnBrk="0" hangingPunct="1">
        <a:spcBef>
          <a:spcPct val="20000"/>
        </a:spcBef>
        <a:buFont typeface="Arial"/>
        <a:buChar char="•"/>
        <a:defRPr sz="8626" kern="1200">
          <a:solidFill>
            <a:schemeClr val="tx1"/>
          </a:solidFill>
          <a:latin typeface="+mn-lt"/>
          <a:ea typeface="+mn-ea"/>
          <a:cs typeface="+mn-cs"/>
        </a:defRPr>
      </a:lvl3pPr>
      <a:lvl4pPr marL="5758188" indent="-822598" algn="l" defTabSz="1645197" rtl="0" eaLnBrk="1" latinLnBrk="0" hangingPunct="1">
        <a:spcBef>
          <a:spcPct val="20000"/>
        </a:spcBef>
        <a:buFont typeface="Arial"/>
        <a:buChar char="–"/>
        <a:defRPr sz="7227" kern="1200">
          <a:solidFill>
            <a:schemeClr val="tx1"/>
          </a:solidFill>
          <a:latin typeface="+mn-lt"/>
          <a:ea typeface="+mn-ea"/>
          <a:cs typeface="+mn-cs"/>
        </a:defRPr>
      </a:lvl4pPr>
      <a:lvl5pPr marL="7403385" indent="-822598" algn="l" defTabSz="1645197" rtl="0" eaLnBrk="1" latinLnBrk="0" hangingPunct="1">
        <a:spcBef>
          <a:spcPct val="20000"/>
        </a:spcBef>
        <a:buFont typeface="Arial"/>
        <a:buChar char="»"/>
        <a:defRPr sz="7227" kern="1200">
          <a:solidFill>
            <a:schemeClr val="tx1"/>
          </a:solidFill>
          <a:latin typeface="+mn-lt"/>
          <a:ea typeface="+mn-ea"/>
          <a:cs typeface="+mn-cs"/>
        </a:defRPr>
      </a:lvl5pPr>
      <a:lvl6pPr marL="9048581" indent="-822598" algn="l" defTabSz="1645197" rtl="0" eaLnBrk="1" latinLnBrk="0" hangingPunct="1">
        <a:spcBef>
          <a:spcPct val="20000"/>
        </a:spcBef>
        <a:buFont typeface="Arial"/>
        <a:buChar char="•"/>
        <a:defRPr sz="7227" kern="1200">
          <a:solidFill>
            <a:schemeClr val="tx1"/>
          </a:solidFill>
          <a:latin typeface="+mn-lt"/>
          <a:ea typeface="+mn-ea"/>
          <a:cs typeface="+mn-cs"/>
        </a:defRPr>
      </a:lvl6pPr>
      <a:lvl7pPr marL="10693778" indent="-822598" algn="l" defTabSz="1645197" rtl="0" eaLnBrk="1" latinLnBrk="0" hangingPunct="1">
        <a:spcBef>
          <a:spcPct val="20000"/>
        </a:spcBef>
        <a:buFont typeface="Arial"/>
        <a:buChar char="•"/>
        <a:defRPr sz="7227" kern="1200">
          <a:solidFill>
            <a:schemeClr val="tx1"/>
          </a:solidFill>
          <a:latin typeface="+mn-lt"/>
          <a:ea typeface="+mn-ea"/>
          <a:cs typeface="+mn-cs"/>
        </a:defRPr>
      </a:lvl7pPr>
      <a:lvl8pPr marL="12338975" indent="-822598" algn="l" defTabSz="1645197" rtl="0" eaLnBrk="1" latinLnBrk="0" hangingPunct="1">
        <a:spcBef>
          <a:spcPct val="20000"/>
        </a:spcBef>
        <a:buFont typeface="Arial"/>
        <a:buChar char="•"/>
        <a:defRPr sz="7227" kern="1200">
          <a:solidFill>
            <a:schemeClr val="tx1"/>
          </a:solidFill>
          <a:latin typeface="+mn-lt"/>
          <a:ea typeface="+mn-ea"/>
          <a:cs typeface="+mn-cs"/>
        </a:defRPr>
      </a:lvl8pPr>
      <a:lvl9pPr marL="13984171" indent="-822598" algn="l" defTabSz="1645197" rtl="0" eaLnBrk="1" latinLnBrk="0" hangingPunct="1">
        <a:spcBef>
          <a:spcPct val="20000"/>
        </a:spcBef>
        <a:buFont typeface="Arial"/>
        <a:buChar char="•"/>
        <a:defRPr sz="722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5197" rtl="0" eaLnBrk="1" latinLnBrk="0" hangingPunct="1">
        <a:defRPr sz="6528" kern="1200">
          <a:solidFill>
            <a:schemeClr val="tx1"/>
          </a:solidFill>
          <a:latin typeface="+mn-lt"/>
          <a:ea typeface="+mn-ea"/>
          <a:cs typeface="+mn-cs"/>
        </a:defRPr>
      </a:lvl1pPr>
      <a:lvl2pPr marL="1645197" algn="l" defTabSz="1645197" rtl="0" eaLnBrk="1" latinLnBrk="0" hangingPunct="1">
        <a:defRPr sz="6528" kern="1200">
          <a:solidFill>
            <a:schemeClr val="tx1"/>
          </a:solidFill>
          <a:latin typeface="+mn-lt"/>
          <a:ea typeface="+mn-ea"/>
          <a:cs typeface="+mn-cs"/>
        </a:defRPr>
      </a:lvl2pPr>
      <a:lvl3pPr marL="3290393" algn="l" defTabSz="1645197" rtl="0" eaLnBrk="1" latinLnBrk="0" hangingPunct="1">
        <a:defRPr sz="6528" kern="1200">
          <a:solidFill>
            <a:schemeClr val="tx1"/>
          </a:solidFill>
          <a:latin typeface="+mn-lt"/>
          <a:ea typeface="+mn-ea"/>
          <a:cs typeface="+mn-cs"/>
        </a:defRPr>
      </a:lvl3pPr>
      <a:lvl4pPr marL="4935589" algn="l" defTabSz="1645197" rtl="0" eaLnBrk="1" latinLnBrk="0" hangingPunct="1">
        <a:defRPr sz="6528" kern="1200">
          <a:solidFill>
            <a:schemeClr val="tx1"/>
          </a:solidFill>
          <a:latin typeface="+mn-lt"/>
          <a:ea typeface="+mn-ea"/>
          <a:cs typeface="+mn-cs"/>
        </a:defRPr>
      </a:lvl4pPr>
      <a:lvl5pPr marL="6580786" algn="l" defTabSz="1645197" rtl="0" eaLnBrk="1" latinLnBrk="0" hangingPunct="1">
        <a:defRPr sz="6528" kern="1200">
          <a:solidFill>
            <a:schemeClr val="tx1"/>
          </a:solidFill>
          <a:latin typeface="+mn-lt"/>
          <a:ea typeface="+mn-ea"/>
          <a:cs typeface="+mn-cs"/>
        </a:defRPr>
      </a:lvl5pPr>
      <a:lvl6pPr marL="8225982" algn="l" defTabSz="1645197" rtl="0" eaLnBrk="1" latinLnBrk="0" hangingPunct="1">
        <a:defRPr sz="6528" kern="1200">
          <a:solidFill>
            <a:schemeClr val="tx1"/>
          </a:solidFill>
          <a:latin typeface="+mn-lt"/>
          <a:ea typeface="+mn-ea"/>
          <a:cs typeface="+mn-cs"/>
        </a:defRPr>
      </a:lvl6pPr>
      <a:lvl7pPr marL="9871179" algn="l" defTabSz="1645197" rtl="0" eaLnBrk="1" latinLnBrk="0" hangingPunct="1">
        <a:defRPr sz="6528" kern="1200">
          <a:solidFill>
            <a:schemeClr val="tx1"/>
          </a:solidFill>
          <a:latin typeface="+mn-lt"/>
          <a:ea typeface="+mn-ea"/>
          <a:cs typeface="+mn-cs"/>
        </a:defRPr>
      </a:lvl7pPr>
      <a:lvl8pPr marL="11516374" algn="l" defTabSz="1645197" rtl="0" eaLnBrk="1" latinLnBrk="0" hangingPunct="1">
        <a:defRPr sz="6528" kern="1200">
          <a:solidFill>
            <a:schemeClr val="tx1"/>
          </a:solidFill>
          <a:latin typeface="+mn-lt"/>
          <a:ea typeface="+mn-ea"/>
          <a:cs typeface="+mn-cs"/>
        </a:defRPr>
      </a:lvl8pPr>
      <a:lvl9pPr marL="13161571" algn="l" defTabSz="1645197" rtl="0" eaLnBrk="1" latinLnBrk="0" hangingPunct="1">
        <a:defRPr sz="65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DB624-97C3-DE40-A78B-42D81FBC596D}"/>
              </a:ext>
            </a:extLst>
          </p:cNvPr>
          <p:cNvSpPr/>
          <p:nvPr/>
        </p:nvSpPr>
        <p:spPr>
          <a:xfrm>
            <a:off x="0" y="-1365621"/>
            <a:ext cx="38404800" cy="6398444"/>
          </a:xfrm>
          <a:prstGeom prst="rect">
            <a:avLst/>
          </a:prstGeom>
          <a:solidFill>
            <a:srgbClr val="C1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19" dirty="0"/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875357" y="3529965"/>
            <a:ext cx="36654101" cy="86793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5040" b="1" dirty="0">
                <a:solidFill>
                  <a:srgbClr val="005F9F"/>
                </a:solidFill>
                <a:latin typeface="+mn-lt"/>
              </a:rPr>
              <a:t>Richard O’Keefe, Ryan J. Zamora, Alyse Finch, Alessandro S. De Nadai</a:t>
            </a:r>
          </a:p>
        </p:txBody>
      </p:sp>
      <p:pic>
        <p:nvPicPr>
          <p:cNvPr id="19" name="Picture 18" descr="HMS_Affiliate.png">
            <a:extLst>
              <a:ext uri="{FF2B5EF4-FFF2-40B4-BE49-F238E27FC236}">
                <a16:creationId xmlns:a16="http://schemas.microsoft.com/office/drawing/2014/main" id="{11AA62D8-FB6A-E049-A615-A2F533362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2578" y="-925477"/>
            <a:ext cx="9352791" cy="162153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1B34B0B-6D5A-6140-92D1-84641B4026B3}"/>
              </a:ext>
            </a:extLst>
          </p:cNvPr>
          <p:cNvSpPr/>
          <p:nvPr/>
        </p:nvSpPr>
        <p:spPr>
          <a:xfrm>
            <a:off x="1023336" y="5387550"/>
            <a:ext cx="11361420" cy="813295"/>
          </a:xfrm>
          <a:prstGeom prst="rect">
            <a:avLst/>
          </a:prstGeom>
          <a:solidFill>
            <a:srgbClr val="005F9F"/>
          </a:solidFill>
          <a:ln>
            <a:solidFill>
              <a:srgbClr val="005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19" dirty="0"/>
          </a:p>
        </p:txBody>
      </p:sp>
      <p:sp>
        <p:nvSpPr>
          <p:cNvPr id="28" name="TextBox 1">
            <a:extLst>
              <a:ext uri="{FF2B5EF4-FFF2-40B4-BE49-F238E27FC236}">
                <a16:creationId xmlns:a16="http://schemas.microsoft.com/office/drawing/2014/main" id="{F6E0ADBB-CE1B-2B43-A133-C419C0659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3212" y="5421646"/>
            <a:ext cx="7841669" cy="73866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4200" b="1" dirty="0">
                <a:latin typeface="Calibri"/>
                <a:cs typeface="Calibri"/>
              </a:rPr>
              <a:t>Background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76F4EA-6B1B-8545-BCF2-F88904BE017B}"/>
              </a:ext>
            </a:extLst>
          </p:cNvPr>
          <p:cNvSpPr/>
          <p:nvPr/>
        </p:nvSpPr>
        <p:spPr>
          <a:xfrm>
            <a:off x="13220899" y="5391612"/>
            <a:ext cx="11973692" cy="828838"/>
          </a:xfrm>
          <a:prstGeom prst="rect">
            <a:avLst/>
          </a:prstGeom>
          <a:solidFill>
            <a:srgbClr val="005F9F"/>
          </a:solidFill>
          <a:ln>
            <a:solidFill>
              <a:srgbClr val="005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19" dirty="0"/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5FD37AA2-40DF-304E-A5E1-6F6A78461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81567" y="5425745"/>
            <a:ext cx="7841669" cy="73866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4200" b="1" dirty="0">
                <a:latin typeface="Calibri"/>
                <a:cs typeface="Calibri"/>
              </a:rPr>
              <a:t>Methods and Results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45A8C0-6EA9-D047-ADE5-B8DCFB900E4A}"/>
              </a:ext>
            </a:extLst>
          </p:cNvPr>
          <p:cNvSpPr/>
          <p:nvPr/>
        </p:nvSpPr>
        <p:spPr>
          <a:xfrm>
            <a:off x="25974482" y="5391608"/>
            <a:ext cx="11361420" cy="813295"/>
          </a:xfrm>
          <a:prstGeom prst="rect">
            <a:avLst/>
          </a:prstGeom>
          <a:solidFill>
            <a:srgbClr val="005F9F"/>
          </a:solidFill>
          <a:ln>
            <a:solidFill>
              <a:srgbClr val="005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19" dirty="0"/>
          </a:p>
        </p:txBody>
      </p:sp>
      <p:sp>
        <p:nvSpPr>
          <p:cNvPr id="34" name="TextBox 1">
            <a:extLst>
              <a:ext uri="{FF2B5EF4-FFF2-40B4-BE49-F238E27FC236}">
                <a16:creationId xmlns:a16="http://schemas.microsoft.com/office/drawing/2014/main" id="{B927C740-5DED-964E-931E-A8AB366FB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0553" y="5425745"/>
            <a:ext cx="7841669" cy="738664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4200" b="1" dirty="0">
                <a:latin typeface="Calibri"/>
                <a:cs typeface="Calibri"/>
              </a:rPr>
              <a:t>Conclusions</a:t>
            </a:r>
            <a:endParaRPr lang="en-US" sz="2800" b="1" i="1" dirty="0">
              <a:latin typeface="Calibri"/>
              <a:cs typeface="Calibr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8FDF33-E360-8546-AC12-2D18C727D4FB}"/>
              </a:ext>
            </a:extLst>
          </p:cNvPr>
          <p:cNvSpPr txBox="1"/>
          <p:nvPr/>
        </p:nvSpPr>
        <p:spPr>
          <a:xfrm>
            <a:off x="26025433" y="6299836"/>
            <a:ext cx="11263628" cy="16832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915" indent="-299915">
              <a:spcAft>
                <a:spcPts val="525"/>
              </a:spcAft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000000"/>
                </a:solidFill>
                <a:ea typeface="Times New Roman" panose="02020603050405020304" pitchFamily="18" charset="0"/>
              </a:rPr>
              <a:t>Overall, this work demonstrates a simple and improved method for providing a common and accurate foundation for outcome-focused quality measurement.</a:t>
            </a:r>
          </a:p>
          <a:p>
            <a:pPr marL="812800" lvl="1" indent="-12700">
              <a:spcAft>
                <a:spcPts val="1050"/>
              </a:spcAft>
              <a:buFont typeface="Arial" panose="020B0604020202020204" pitchFamily="34" charset="0"/>
              <a:buChar char="–"/>
            </a:pPr>
            <a:r>
              <a:rPr lang="en-US" sz="4000" dirty="0"/>
              <a:t> </a:t>
            </a:r>
            <a:r>
              <a:rPr lang="en-US" sz="4000" dirty="0">
                <a:solidFill>
                  <a:srgbClr val="000000"/>
                </a:solidFill>
                <a:ea typeface="Times New Roman" panose="02020603050405020304" pitchFamily="18" charset="0"/>
              </a:rPr>
              <a:t>Specifically, we find that using multivariable regression with key life domains as separate predictors is a more accurate way to measure QOL than the traditional single total score method.</a:t>
            </a:r>
          </a:p>
          <a:p>
            <a:endParaRPr lang="en-US" sz="4000" dirty="0">
              <a:ea typeface="Times New Roman" panose="02020603050405020304" pitchFamily="18" charset="0"/>
            </a:endParaRPr>
          </a:p>
          <a:p>
            <a:pPr marL="299915" indent="-299915">
              <a:spcAft>
                <a:spcPts val="525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ea typeface="Times New Roman" panose="02020603050405020304" pitchFamily="18" charset="0"/>
              </a:rPr>
              <a:t>This method also: </a:t>
            </a:r>
          </a:p>
          <a:p>
            <a:pPr marL="812800" lvl="1" indent="-12700">
              <a:spcAft>
                <a:spcPts val="1050"/>
              </a:spcAft>
              <a:buFont typeface="Arial" panose="020B0604020202020204" pitchFamily="34" charset="0"/>
              <a:buChar char="–"/>
            </a:pPr>
            <a:r>
              <a:rPr lang="en-US" sz="4000" dirty="0">
                <a:solidFill>
                  <a:srgbClr val="000000"/>
                </a:solidFill>
                <a:ea typeface="Times New Roman" panose="02020603050405020304" pitchFamily="18" charset="0"/>
              </a:rPr>
              <a:t> Creates a stronger, unbiased foundation for evaluating mental health care</a:t>
            </a:r>
          </a:p>
          <a:p>
            <a:pPr marL="812800" lvl="1" indent="-12700">
              <a:spcAft>
                <a:spcPts val="1050"/>
              </a:spcAft>
              <a:buFont typeface="Arial" panose="020B0604020202020204" pitchFamily="34" charset="0"/>
              <a:buChar char="–"/>
            </a:pPr>
            <a:r>
              <a:rPr lang="en-US" sz="4000" dirty="0">
                <a:solidFill>
                  <a:srgbClr val="000000"/>
                </a:solidFill>
                <a:ea typeface="Times New Roman" panose="02020603050405020304" pitchFamily="18" charset="0"/>
              </a:rPr>
              <a:t> Enables progress in multiple MH domains</a:t>
            </a:r>
          </a:p>
          <a:p>
            <a:pPr marL="812800" lvl="1" indent="-12700">
              <a:spcAft>
                <a:spcPts val="1050"/>
              </a:spcAft>
              <a:buFont typeface="Arial" panose="020B0604020202020204" pitchFamily="34" charset="0"/>
              <a:buChar char="–"/>
            </a:pPr>
            <a:r>
              <a:rPr lang="en-US" sz="4000" dirty="0">
                <a:solidFill>
                  <a:srgbClr val="000000"/>
                </a:solidFill>
                <a:ea typeface="Times New Roman" panose="02020603050405020304" pitchFamily="18" charset="0"/>
              </a:rPr>
              <a:t> Moves us closer to a national standard for outcome-focused measurement of MH care</a:t>
            </a:r>
          </a:p>
          <a:p>
            <a:pPr marL="799769" lvl="1">
              <a:spcAft>
                <a:spcPts val="1050"/>
              </a:spcAft>
            </a:pPr>
            <a:endParaRPr lang="en-US" sz="4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299915" indent="-299915">
              <a:spcAft>
                <a:spcPts val="525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0000"/>
                </a:solidFill>
                <a:ea typeface="Times New Roman" panose="02020603050405020304" pitchFamily="18" charset="0"/>
              </a:rPr>
              <a:t>This work is supported by NIMH grant R01MH137075 to PI De Nadai</a:t>
            </a:r>
            <a:endParaRPr lang="en-US" sz="4000" dirty="0">
              <a:ea typeface="Times New Roman" panose="02020603050405020304" pitchFamily="18" charset="0"/>
            </a:endParaRPr>
          </a:p>
          <a:p>
            <a:pPr marL="812800" lvl="1" indent="-12700">
              <a:spcAft>
                <a:spcPts val="1050"/>
              </a:spcAft>
              <a:buFont typeface="Arial" panose="020B0604020202020204" pitchFamily="34" charset="0"/>
              <a:buChar char="–"/>
            </a:pPr>
            <a:r>
              <a:rPr lang="en-US" sz="4000" dirty="0">
                <a:solidFill>
                  <a:srgbClr val="000000"/>
                </a:solidFill>
                <a:ea typeface="Times New Roman" panose="02020603050405020304" pitchFamily="18" charset="0"/>
              </a:rPr>
              <a:t> Focus on using latent variable modeling and unsupervised machine learning to further improve upon these methods</a:t>
            </a:r>
          </a:p>
          <a:p>
            <a:pPr marL="299915" indent="-299915">
              <a:spcAft>
                <a:spcPts val="525"/>
              </a:spcAft>
              <a:buFont typeface="Arial" panose="020B0604020202020204" pitchFamily="34" charset="0"/>
              <a:buChar char="•"/>
            </a:pPr>
            <a:endParaRPr lang="en-US" sz="44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299915" indent="-299915">
              <a:spcAft>
                <a:spcPts val="525"/>
              </a:spcAft>
              <a:buFont typeface="Arial" panose="020B0604020202020204" pitchFamily="34" charset="0"/>
              <a:buChar char="•"/>
            </a:pPr>
            <a:endParaRPr lang="en-US" sz="44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299915" indent="-299915">
              <a:spcAft>
                <a:spcPts val="525"/>
              </a:spcAft>
              <a:buFont typeface="Arial" panose="020B0604020202020204" pitchFamily="34" charset="0"/>
              <a:buChar char="•"/>
            </a:pPr>
            <a:endParaRPr lang="en-US" sz="4400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pic>
        <p:nvPicPr>
          <p:cNvPr id="4" name="Picture 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1484C561-F4DC-087C-B8B9-2377A1A8B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53" y="-925477"/>
            <a:ext cx="7551269" cy="1621536"/>
          </a:xfrm>
          <a:prstGeom prst="rect">
            <a:avLst/>
          </a:prstGeom>
        </p:spPr>
      </p:pic>
      <p:sp>
        <p:nvSpPr>
          <p:cNvPr id="35" name="TextBox 1">
            <a:extLst>
              <a:ext uri="{FF2B5EF4-FFF2-40B4-BE49-F238E27FC236}">
                <a16:creationId xmlns:a16="http://schemas.microsoft.com/office/drawing/2014/main" id="{6FC639B3-3C84-49F8-AA61-90CD6D8DC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163" y="1557935"/>
            <a:ext cx="37386489" cy="178510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0800" b="1" dirty="0">
                <a:solidFill>
                  <a:srgbClr val="005F9F"/>
                </a:solidFill>
                <a:latin typeface="+mn-lt"/>
              </a:rPr>
              <a:t>New Approaches to Quality of Life Assessment in Mental Health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4002D5-937D-3437-3452-97220692532D}"/>
              </a:ext>
            </a:extLst>
          </p:cNvPr>
          <p:cNvSpPr/>
          <p:nvPr/>
        </p:nvSpPr>
        <p:spPr>
          <a:xfrm>
            <a:off x="1024128" y="27254942"/>
            <a:ext cx="36311774" cy="813295"/>
          </a:xfrm>
          <a:prstGeom prst="rect">
            <a:avLst/>
          </a:prstGeom>
          <a:solidFill>
            <a:srgbClr val="005F9F"/>
          </a:solidFill>
          <a:ln>
            <a:solidFill>
              <a:srgbClr val="005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19" dirty="0"/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A6EE2E2E-E870-BB9E-B415-4E64061BA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85316" y="27289032"/>
            <a:ext cx="10834171" cy="73866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4200" b="1" dirty="0">
                <a:latin typeface="Calibri"/>
                <a:cs typeface="Calibri"/>
              </a:rPr>
              <a:t>Figures and Demonstration Models</a:t>
            </a:r>
          </a:p>
        </p:txBody>
      </p:sp>
      <p:pic>
        <p:nvPicPr>
          <p:cNvPr id="8" name="Picture 7" descr="A black and blue sign with white text&#10;&#10;Description automatically generated">
            <a:extLst>
              <a:ext uri="{FF2B5EF4-FFF2-40B4-BE49-F238E27FC236}">
                <a16:creationId xmlns:a16="http://schemas.microsoft.com/office/drawing/2014/main" id="{29F51B9A-E67F-5838-3C31-6B1E4FA24AB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1" r="-2584"/>
          <a:stretch/>
        </p:blipFill>
        <p:spPr>
          <a:xfrm>
            <a:off x="27045162" y="22515703"/>
            <a:ext cx="9273597" cy="23896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345447EE-A75A-1F3B-68D8-FD97F0693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898" y="5987788"/>
            <a:ext cx="11315858" cy="20405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b="1" dirty="0"/>
              <a:t>Researchers, regulatory bodies, and third-party payers need a common metric</a:t>
            </a:r>
            <a:r>
              <a:rPr lang="en-US" altLang="en-US" sz="4000" dirty="0"/>
              <a:t> to compare the impact of mental health (MH) and physical health (PH) conditions and treatments on equal footing.</a:t>
            </a: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4000" dirty="0"/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b="1" dirty="0"/>
              <a:t>Without such a metric, progress in clinical investigation and policy development is impeded</a:t>
            </a:r>
            <a:r>
              <a:rPr lang="en-US" altLang="en-US" sz="4000" dirty="0"/>
              <a:t>, such as through the limitation of meaningful comparisons (e.g., depression vs. schizophrenia or diabetes) and the slowing of clinical and policy decisions.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/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/>
              <a:t>Quality of Life (QOL) measures are a promising candidate for such a metric, but </a:t>
            </a:r>
            <a:r>
              <a:rPr lang="en-US" altLang="en-US" sz="4000" b="1" dirty="0"/>
              <a:t>current QOL measures and tools have many flaws</a:t>
            </a:r>
            <a:r>
              <a:rPr lang="en-US" altLang="en-US" sz="4000" dirty="0"/>
              <a:t>.</a:t>
            </a:r>
            <a:endParaRPr lang="en-US" altLang="en-US" sz="4000" b="1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/>
              <a:t>	</a:t>
            </a:r>
            <a:r>
              <a:rPr lang="en-US" sz="4000" dirty="0"/>
              <a:t>– </a:t>
            </a:r>
            <a:r>
              <a:rPr lang="en-US" altLang="en-US" sz="4000" u="sng" dirty="0"/>
              <a:t>Current QOL tools are poorly suited to MH</a:t>
            </a:r>
            <a:r>
              <a:rPr lang="en-US" altLang="en-US" sz="4000" dirty="0"/>
              <a:t>	  	</a:t>
            </a:r>
            <a:r>
              <a:rPr lang="en-US" altLang="en-US" sz="4000" u="sng" dirty="0"/>
              <a:t>symptoms</a:t>
            </a:r>
            <a:r>
              <a:rPr lang="en-US" altLang="en-US" sz="4000" dirty="0"/>
              <a:t>, reducing sensitivity and accuracy.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/>
              <a:t>	</a:t>
            </a:r>
            <a:r>
              <a:rPr lang="en-US" sz="4000" dirty="0"/>
              <a:t>– </a:t>
            </a:r>
            <a:r>
              <a:rPr lang="en-US" altLang="en-US" sz="4000" u="sng" dirty="0"/>
              <a:t>Existing QOL measures lack comparability</a:t>
            </a:r>
            <a:r>
              <a:rPr lang="en-US" altLang="en-US" sz="4000" dirty="0"/>
              <a:t>, often 	being too disorder-specific to work across MH 	  	and PH conditions.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/>
              <a:t>	</a:t>
            </a:r>
            <a:r>
              <a:rPr lang="en-US" sz="4000" dirty="0"/>
              <a:t>– </a:t>
            </a:r>
            <a:r>
              <a:rPr lang="en-US" altLang="en-US" sz="4000" u="sng" dirty="0"/>
              <a:t>Current methods to convert existing QOL</a:t>
            </a:r>
            <a:r>
              <a:rPr lang="en-US" altLang="en-US" sz="4000" dirty="0"/>
              <a:t>		</a:t>
            </a:r>
            <a:r>
              <a:rPr lang="en-US" altLang="en-US" sz="4000" u="sng" dirty="0"/>
              <a:t>measures into more generalized metrics</a:t>
            </a:r>
            <a:r>
              <a:rPr lang="en-US" altLang="en-US" sz="4000" dirty="0"/>
              <a:t>	 	  	</a:t>
            </a:r>
            <a:r>
              <a:rPr lang="en-US" altLang="en-US" sz="4000" u="sng" dirty="0"/>
              <a:t>introduce bias</a:t>
            </a:r>
            <a:r>
              <a:rPr lang="en-US" altLang="en-US" sz="4000" dirty="0"/>
              <a:t>, weakening the reliability of QOL 	   	as a universal metric.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4000" dirty="0"/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/>
              <a:t>Traditionally, researchers have aimed to create single total QOL scores to reflect all domains in QOL.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dirty="0"/>
              <a:t>	– </a:t>
            </a:r>
            <a:r>
              <a:rPr lang="en-US" sz="4000" b="1" dirty="0"/>
              <a:t>This </a:t>
            </a:r>
            <a:r>
              <a:rPr lang="en-US" altLang="en-US" sz="4000" b="1" dirty="0"/>
              <a:t>project challenges the notion that we 	 	should aim for a single total QOL score</a:t>
            </a:r>
            <a:r>
              <a:rPr lang="en-US" altLang="en-US" sz="4000" dirty="0"/>
              <a:t>, testing 	   	whether QOL is better measured as separate 	  	domains rather than a single combined score.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85B46975-D2ED-16AF-2FC5-647F4B015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15555" y="6254540"/>
            <a:ext cx="11973691" cy="20405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/>
              <a:t>Using QOL data from the All of Us large behavioral study (N=64,160), we assessed whether items from the Patient-Reported Outcomes Measurement Information System Global Health (PROMIS-GH) Scale better predicted clinical and behavioral outcomes of interest as individual items versus combined total scores.</a:t>
            </a: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4000" dirty="0"/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/>
              <a:t>Outcomes included a variety of constructs, such as blood pressure, heart rate, perceived stress, social support, and loneliness.</a:t>
            </a: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4000" dirty="0"/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/>
              <a:t>We compared the amount of variance explained in these outcomes first by correlating PROMIS-GH scores with each respective outcome.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/>
              <a:t>	</a:t>
            </a:r>
            <a:r>
              <a:rPr lang="en-US" sz="4000" dirty="0"/>
              <a:t> – </a:t>
            </a:r>
            <a:r>
              <a:rPr lang="en-US" altLang="en-US" sz="4000" dirty="0"/>
              <a:t>This reflected the traditional approach of creating 	 single QOL total scores and relating them to 	   	 measures of interest.</a:t>
            </a:r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4000" dirty="0"/>
          </a:p>
          <a:p>
            <a:pPr marL="45720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4000" dirty="0"/>
              <a:t>To compare the performance of individual items, we compared two methods to each other and to the traditional single total score method.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dirty="0"/>
              <a:t>	 – First, we computed bivariate correlations between 	 each PROMIS-GH item and the aforementioned 	    	 clinical and behavioral outcomes.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dirty="0"/>
              <a:t>	 – Second, we predicted these same outcomes using 	 multivariable regression with all of the PROMIS- 	 GH items included as a predictor.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dirty="0"/>
              <a:t>	 – </a:t>
            </a:r>
            <a:r>
              <a:rPr lang="en-US" sz="4000" b="1" dirty="0"/>
              <a:t>Results found the regression method to have the 	 best performance</a:t>
            </a:r>
            <a:r>
              <a:rPr lang="en-US" sz="4000" dirty="0"/>
              <a:t> (ΔR2 ranged from 1%-7%  	  	 relative to the traditional method of bivariate 	  	 relations between PROMIS-GH total scores and 	 	 outcomes).</a:t>
            </a:r>
            <a:endParaRPr lang="en-US" altLang="en-US" sz="4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E2BAA04-CC46-A2D2-052A-8EC09585F501}"/>
              </a:ext>
            </a:extLst>
          </p:cNvPr>
          <p:cNvGrpSpPr/>
          <p:nvPr/>
        </p:nvGrpSpPr>
        <p:grpSpPr>
          <a:xfrm>
            <a:off x="1068898" y="29023203"/>
            <a:ext cx="10738201" cy="7557843"/>
            <a:chOff x="930563" y="29907592"/>
            <a:chExt cx="11228787" cy="7169944"/>
          </a:xfrm>
        </p:grpSpPr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11D51346-BDE3-B7A5-8C23-417B086805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3223" y="29907592"/>
              <a:ext cx="11216127" cy="67250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C605F35-C1E7-763E-C2FE-B0CFCBCF6658}"/>
                </a:ext>
              </a:extLst>
            </p:cNvPr>
            <p:cNvSpPr txBox="1"/>
            <p:nvPr/>
          </p:nvSpPr>
          <p:spPr>
            <a:xfrm>
              <a:off x="930563" y="36660008"/>
              <a:ext cx="11216127" cy="4175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b="1" dirty="0"/>
                <a:t>Figure 1</a:t>
              </a:r>
              <a:r>
                <a:rPr lang="en-US" sz="2600" dirty="0"/>
                <a:t>: A comparison of how well different sets of MH variables predicted PSS-10 values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1521531-0C58-8251-65CD-FF23BD308E99}"/>
              </a:ext>
            </a:extLst>
          </p:cNvPr>
          <p:cNvGrpSpPr/>
          <p:nvPr/>
        </p:nvGrpSpPr>
        <p:grpSpPr>
          <a:xfrm>
            <a:off x="26062755" y="29023206"/>
            <a:ext cx="11226306" cy="7528964"/>
            <a:chOff x="21864787" y="33571452"/>
            <a:chExt cx="11228236" cy="7142546"/>
          </a:xfrm>
        </p:grpSpPr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60C37D11-4993-CDF1-AA59-DE104C0FE6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76896" y="33571452"/>
              <a:ext cx="11216127" cy="67250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05180CD-6A34-82A9-777D-E6A6DEB5FF49}"/>
                </a:ext>
              </a:extLst>
            </p:cNvPr>
            <p:cNvSpPr txBox="1"/>
            <p:nvPr/>
          </p:nvSpPr>
          <p:spPr>
            <a:xfrm>
              <a:off x="21864787" y="40296470"/>
              <a:ext cx="11216127" cy="4175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b="1" dirty="0"/>
                <a:t>Figure 3</a:t>
              </a:r>
              <a:r>
                <a:rPr lang="en-US" sz="2600" dirty="0"/>
                <a:t>: A comparison of how well different sets of MH variables predicted MOS-10 values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DFA586C-1235-9A98-2D19-E3EBA4B188FC}"/>
              </a:ext>
            </a:extLst>
          </p:cNvPr>
          <p:cNvGrpSpPr/>
          <p:nvPr/>
        </p:nvGrpSpPr>
        <p:grpSpPr>
          <a:xfrm>
            <a:off x="13565827" y="29013781"/>
            <a:ext cx="10726094" cy="7569510"/>
            <a:chOff x="4195026" y="33603051"/>
            <a:chExt cx="11216127" cy="7181011"/>
          </a:xfrm>
        </p:grpSpPr>
        <p:pic>
          <p:nvPicPr>
            <p:cNvPr id="1035" name="Picture 11">
              <a:extLst>
                <a:ext uri="{FF2B5EF4-FFF2-40B4-BE49-F238E27FC236}">
                  <a16:creationId xmlns:a16="http://schemas.microsoft.com/office/drawing/2014/main" id="{1FF9ADCC-48BB-8B60-C50C-E8281018F9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5026" y="33603051"/>
              <a:ext cx="11216127" cy="67250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6D20038-3BD8-CA68-BF30-F52DE36F8E94}"/>
                </a:ext>
              </a:extLst>
            </p:cNvPr>
            <p:cNvSpPr txBox="1"/>
            <p:nvPr/>
          </p:nvSpPr>
          <p:spPr>
            <a:xfrm>
              <a:off x="4195026" y="40366534"/>
              <a:ext cx="11216127" cy="4175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b="1" dirty="0"/>
                <a:t>Figure 2</a:t>
              </a:r>
              <a:r>
                <a:rPr lang="en-US" sz="2600" dirty="0"/>
                <a:t>: A comparison of how well different sets of MH variables predicted ULS-8 values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7298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6409</TotalTime>
  <Words>701</Words>
  <Application>Microsoft Office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Partners HealthCare System</dc:creator>
  <cp:lastModifiedBy>Richard O'Keefe</cp:lastModifiedBy>
  <cp:revision>73</cp:revision>
  <dcterms:created xsi:type="dcterms:W3CDTF">2018-03-08T17:25:22Z</dcterms:created>
  <dcterms:modified xsi:type="dcterms:W3CDTF">2026-01-24T20:13:48Z</dcterms:modified>
</cp:coreProperties>
</file>